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758" r:id="rId3"/>
    <p:sldId id="917" r:id="rId4"/>
    <p:sldId id="726" r:id="rId5"/>
    <p:sldId id="728" r:id="rId6"/>
    <p:sldId id="729" r:id="rId7"/>
    <p:sldId id="317" r:id="rId8"/>
    <p:sldId id="964" r:id="rId9"/>
    <p:sldId id="70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C7DF8-C3F0-45ED-85D8-FE937DE303EF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11196-0015-42D0-BE3A-1F9839244B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221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446d1d4762_0_107:notes"/>
          <p:cNvSpPr txBox="1">
            <a:spLocks noGrp="1"/>
          </p:cNvSpPr>
          <p:nvPr>
            <p:ph type="body" idx="1"/>
          </p:nvPr>
        </p:nvSpPr>
        <p:spPr>
          <a:xfrm>
            <a:off x="914400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g446d1d4762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446d1d4762_0_92:notes"/>
          <p:cNvSpPr txBox="1">
            <a:spLocks noGrp="1"/>
          </p:cNvSpPr>
          <p:nvPr>
            <p:ph type="body" idx="1"/>
          </p:nvPr>
        </p:nvSpPr>
        <p:spPr>
          <a:xfrm>
            <a:off x="914400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g446d1d4762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446d1d4762_0_97:notes"/>
          <p:cNvSpPr txBox="1">
            <a:spLocks noGrp="1"/>
          </p:cNvSpPr>
          <p:nvPr>
            <p:ph type="body" idx="1"/>
          </p:nvPr>
        </p:nvSpPr>
        <p:spPr>
          <a:xfrm>
            <a:off x="914400" y="4343406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446d1d4762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8CD70-C0B0-51A7-AB3E-A1644414A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5483C8-BE9E-A6CF-F9F6-752D707D1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E80EAE-417B-ACC6-90D5-C0A6CDE7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8C4A-8D62-4C77-8455-DCE04F0EF8E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3AB062-1EAE-253A-E010-D5FB7F8E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2CD4E8-D9CA-D8F1-1D26-30AE66C8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DF64D-C5BB-455E-9621-E65C22BEA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880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2A5EF-C94C-8DFF-6780-DFFF465B5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94653D-76D5-1C3B-0142-CAFCD08F2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941961-D59C-F742-D166-0588EC67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8C4A-8D62-4C77-8455-DCE04F0EF8E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19F956-ECAF-E4D5-80B0-AC02C95DE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2F01C0-197C-5A78-7608-467439C1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DF64D-C5BB-455E-9621-E65C22BEA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983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D9F80-4D19-3012-C8A8-B4EEA021B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2A0C72-94E9-335A-2081-EA9F65CF8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A7CA57-EBFC-80B3-217F-2E4198C5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8C4A-8D62-4C77-8455-DCE04F0EF8E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BEC58B-E707-3DF5-C45B-C2F36C29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2ACC00-1D30-CBF5-0841-EDBDDFDD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DF64D-C5BB-455E-9621-E65C22BEA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989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BD3B6-01AE-1E4D-A8B1-8A09A414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44F7EB-89C2-FC08-A585-B05D2C997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64FA86-07F5-7E73-38AA-3B44CF4AD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41B2F7-4F60-3552-36F5-C94F2AEF0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8C4A-8D62-4C77-8455-DCE04F0EF8E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1276E66-33A1-B0C5-0347-02FAC868E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9066F5-41A6-6D4C-737F-BC3A2771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DF64D-C5BB-455E-9621-E65C22BEA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4976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ACD397-B904-480B-7629-8753C1C40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65101E-168D-21BB-AD2B-EE7A1696A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F664A3C-77AD-7AC3-D38A-52AF445D0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3A572F9-5A83-36DD-B08C-FC50A6EF1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2A2C5C4-2515-FF15-9586-0BC185F9B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9879591-032B-6BC4-D51D-AF4E371A5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8C4A-8D62-4C77-8455-DCE04F0EF8E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EBF06A9-14F2-A137-A1F3-E8E95A4DA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2B13FBD-E29C-A62C-A8D8-375003245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DF64D-C5BB-455E-9621-E65C22BEA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077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F38CC-8798-2B87-F105-28F52B457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D3E5B5-1E5E-D03E-38A5-BB485E1AB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8C4A-8D62-4C77-8455-DCE04F0EF8E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97F8EB4-9A72-6AA1-0D42-C2E3CF0AE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CD3540-0D90-F1A8-95AC-0F7F003D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DF64D-C5BB-455E-9621-E65C22BEA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64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411FA2-C62E-C3AA-3202-0BA3614DB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8C4A-8D62-4C77-8455-DCE04F0EF8E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8A4A738-5013-E3B9-1480-EC21846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F30761-3F0F-40DC-38B0-099C6C2C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DF64D-C5BB-455E-9621-E65C22BEA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75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D7E028-326D-DAA1-FDFA-B0CF83DFD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DFC730-01C1-C852-B62F-006B236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5CAFE0F-1251-7FEA-879C-C0F624AFD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50270E-E2A4-8905-EE59-5874D64C3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8C4A-8D62-4C77-8455-DCE04F0EF8E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D13F01-37E4-C0FB-FC17-795C586BA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DA9FB2-4875-8425-1289-D1355DA3A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DF64D-C5BB-455E-9621-E65C22BEA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73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6AC58-5380-C8CD-D817-EEE79A7A4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09D7818-CBBF-7C6F-AA37-5EEF465B40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3B61DB-A7A7-75FE-F531-8BC8BC54D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65AE76-0400-136B-AFCF-9C5EB27DE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8C4A-8D62-4C77-8455-DCE04F0EF8E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F5E405-DEF1-642F-DB24-FEF74C331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E861A2-A41B-E44C-D2CF-89277C342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DF64D-C5BB-455E-9621-E65C22BEA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274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8EE83-86E4-E0A2-18A5-22DCCEEF2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77C3CF8-4788-F9B4-B72C-EF3CBECF8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945056-DDB2-8F60-A5C6-1710AE049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8C4A-8D62-4C77-8455-DCE04F0EF8E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B1FEE6-CFC5-64FD-D8A7-FD9E0727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AA7630-D16B-075A-0B53-1C5721BE5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DF64D-C5BB-455E-9621-E65C22BEA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47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B11AED5-53BB-8AEE-52B9-CC08D05C7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305D685-11BB-6DAB-4659-45704352F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A6DB7F-1581-460D-195F-AD709702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28C4A-8D62-4C77-8455-DCE04F0EF8E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29BD9B-E4F9-5C92-12A6-5D79D1C47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D10165-464E-69BD-D882-3327554F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DF64D-C5BB-455E-9621-E65C22BEA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146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пункты">
  <p:cSld name="Заголовок и пункты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892969" y="312539"/>
            <a:ext cx="10406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5600" b="0" i="0" u="none" strike="noStrike" cap="none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4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4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4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4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4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4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4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4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body" idx="1"/>
          </p:nvPr>
        </p:nvSpPr>
        <p:spPr>
          <a:xfrm>
            <a:off x="892969" y="1830586"/>
            <a:ext cx="10406000" cy="44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L="457200" marR="0" lvl="0" indent="-349250" algn="l" rtl="0">
              <a:spcBef>
                <a:spcPts val="3000"/>
              </a:spcBef>
              <a:spcAft>
                <a:spcPts val="0"/>
              </a:spcAft>
              <a:buSzPts val="1900"/>
              <a:buFont typeface="Arial"/>
              <a:buChar char="•"/>
              <a:defRPr sz="2500" b="0" i="0" u="none" strike="noStrike" cap="none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49250" algn="l" rtl="0">
              <a:spcBef>
                <a:spcPts val="3000"/>
              </a:spcBef>
              <a:spcAft>
                <a:spcPts val="0"/>
              </a:spcAft>
              <a:buSzPts val="1900"/>
              <a:buFont typeface="Arial"/>
              <a:buChar char="•"/>
              <a:defRPr sz="2500" b="0" i="0" u="none" strike="noStrike" cap="none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49250" algn="l" rtl="0">
              <a:spcBef>
                <a:spcPts val="3000"/>
              </a:spcBef>
              <a:spcAft>
                <a:spcPts val="0"/>
              </a:spcAft>
              <a:buSzPts val="1900"/>
              <a:buFont typeface="Arial"/>
              <a:buChar char="•"/>
              <a:defRPr sz="2500" b="0" i="0" u="none" strike="noStrike" cap="none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9250" algn="l" rtl="0">
              <a:spcBef>
                <a:spcPts val="3000"/>
              </a:spcBef>
              <a:spcAft>
                <a:spcPts val="0"/>
              </a:spcAft>
              <a:buSzPts val="1900"/>
              <a:buFont typeface="Arial"/>
              <a:buChar char="•"/>
              <a:defRPr sz="2500" b="0" i="0" u="none" strike="noStrike" cap="none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9250" algn="l" rtl="0">
              <a:spcBef>
                <a:spcPts val="3000"/>
              </a:spcBef>
              <a:spcAft>
                <a:spcPts val="0"/>
              </a:spcAft>
              <a:buSzPts val="1900"/>
              <a:buFont typeface="Arial"/>
              <a:buChar char="•"/>
              <a:defRPr sz="2500" b="0" i="0" u="none" strike="noStrike" cap="none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425450" algn="l" rtl="0">
              <a:spcBef>
                <a:spcPts val="500"/>
              </a:spcBef>
              <a:spcAft>
                <a:spcPts val="0"/>
              </a:spcAft>
              <a:buSzPts val="3100"/>
              <a:buFont typeface="Arial"/>
              <a:buChar char="•"/>
              <a:defRPr sz="31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25450" algn="l" rtl="0">
              <a:spcBef>
                <a:spcPts val="500"/>
              </a:spcBef>
              <a:spcAft>
                <a:spcPts val="0"/>
              </a:spcAft>
              <a:buSzPts val="3100"/>
              <a:buFont typeface="Arial"/>
              <a:buChar char="•"/>
              <a:defRPr sz="31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25450" algn="l" rtl="0">
              <a:spcBef>
                <a:spcPts val="500"/>
              </a:spcBef>
              <a:spcAft>
                <a:spcPts val="0"/>
              </a:spcAft>
              <a:buSzPts val="3100"/>
              <a:buFont typeface="Arial"/>
              <a:buChar char="•"/>
              <a:defRPr sz="31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25450" algn="l" rtl="0">
              <a:spcBef>
                <a:spcPts val="500"/>
              </a:spcBef>
              <a:spcAft>
                <a:spcPts val="0"/>
              </a:spcAft>
              <a:buSzPts val="3100"/>
              <a:buFont typeface="Arial"/>
              <a:buChar char="•"/>
              <a:defRPr sz="31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4206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15505-13B1-0846-F15F-9CAD758E1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583FFC-0432-EC3D-BEBC-204C6207F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FD45C4-D301-F5F0-4609-4E5A30A47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28C4A-8D62-4C77-8455-DCE04F0EF8E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C8F045-741E-F52B-A4B3-762FA1C3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2BBB90-EF28-12CA-E855-66E5CF32F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DF64D-C5BB-455E-9621-E65C22BEA6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21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as-project.ru/" TargetMode="Externa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EE322-40FC-CF40-9F6E-2C368E4B3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3000" y="583345"/>
            <a:ext cx="8627787" cy="416482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r>
              <a:rPr lang="ru-RU" sz="6600" b="1" kern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Формальные онтологии. </a:t>
            </a:r>
            <a:r>
              <a:rPr lang="ru-RU" sz="6600" b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Методы и инструменты их практического применения</a:t>
            </a:r>
            <a:endParaRPr lang="en-US" sz="6600" b="1" kern="1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A3C4D03-C44D-84AD-AB9A-ECD2C7419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Комплексность от технологий к бизнес-моделям</a:t>
            </a: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92D461A-E150-DF46-9069-540019041EA3}"/>
              </a:ext>
            </a:extLst>
          </p:cNvPr>
          <p:cNvSpPr/>
          <p:nvPr/>
        </p:nvSpPr>
        <p:spPr>
          <a:xfrm>
            <a:off x="7256437" y="5898658"/>
            <a:ext cx="4349750" cy="5048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ru-RU"/>
              <a:t>Т-СИСТЕМА Гринько О.В. </a:t>
            </a:r>
          </a:p>
        </p:txBody>
      </p:sp>
    </p:spTree>
    <p:extLst>
      <p:ext uri="{BB962C8B-B14F-4D97-AF65-F5344CB8AC3E}">
        <p14:creationId xmlns:p14="http://schemas.microsoft.com/office/powerpoint/2010/main" val="2443535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68986" y="712055"/>
            <a:ext cx="10515600" cy="380960"/>
          </a:xfrm>
          <a:prstGeom prst="rect">
            <a:avLst/>
          </a:prstGeom>
        </p:spPr>
        <p:txBody>
          <a:bodyPr vert="horz" wrap="square" lIns="0" tIns="11516" rIns="0" bIns="0" rtlCol="0" anchor="ctr">
            <a:spAutoFit/>
          </a:bodyPr>
          <a:lstStyle/>
          <a:p>
            <a:pPr marL="11516" algn="ctr">
              <a:lnSpc>
                <a:spcPct val="100000"/>
              </a:lnSpc>
              <a:spcBef>
                <a:spcPts val="948"/>
              </a:spcBef>
              <a:tabLst>
                <a:tab pos="418043" algn="l"/>
              </a:tabLst>
            </a:pPr>
            <a:r>
              <a:rPr lang="en-US" sz="2400" b="1" spc="109" dirty="0">
                <a:latin typeface="Arial" panose="020B0604020202020204" pitchFamily="34" charset="0"/>
                <a:cs typeface="Arial" panose="020B0604020202020204" pitchFamily="34" charset="0"/>
              </a:rPr>
              <a:t>6 </a:t>
            </a:r>
            <a:r>
              <a:rPr lang="ru-RU" sz="2400" b="1" spc="109" dirty="0">
                <a:latin typeface="Arial" panose="020B0604020202020204" pitchFamily="34" charset="0"/>
                <a:cs typeface="Arial" panose="020B0604020202020204" pitchFamily="34" charset="0"/>
              </a:rPr>
              <a:t>ЭЛЕМЕНТОВ</a:t>
            </a:r>
            <a:r>
              <a:rPr lang="en-US" sz="2400" b="1" spc="109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spc="109" dirty="0">
                <a:latin typeface="Arial" panose="020B0604020202020204" pitchFamily="34" charset="0"/>
                <a:cs typeface="Arial" panose="020B0604020202020204" pitchFamily="34" charset="0"/>
              </a:rPr>
              <a:t>ТРАНСФОРМАЦИИ – КОМПЛЕКСНОСТЬ</a:t>
            </a:r>
            <a:endParaRPr lang="ru-RU" sz="2400" b="1" baseline="16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FDA23B2D-363C-7448-B3A8-EE939D42B12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3" r="12880" b="14178"/>
          <a:stretch/>
        </p:blipFill>
        <p:spPr>
          <a:xfrm>
            <a:off x="265796" y="1852681"/>
            <a:ext cx="1238220" cy="898277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2C3F4C2-81DA-7148-BD51-BA0E977EAC2F}"/>
              </a:ext>
            </a:extLst>
          </p:cNvPr>
          <p:cNvSpPr txBox="1">
            <a:spLocks/>
          </p:cNvSpPr>
          <p:nvPr/>
        </p:nvSpPr>
        <p:spPr>
          <a:xfrm>
            <a:off x="1431837" y="1783582"/>
            <a:ext cx="3109442" cy="1934751"/>
          </a:xfrm>
          <a:prstGeom prst="rect">
            <a:avLst/>
          </a:prstGeom>
        </p:spPr>
        <p:txBody>
          <a:bodyPr vert="horz" lIns="67371" tIns="33686" rIns="67371" bIns="3368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7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1. </a:t>
            </a:r>
            <a:r>
              <a:rPr kumimoji="0" lang="ru-RU" sz="127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Технологическая модель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Эффекты от комплексных технических решений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Как внедрять технологии на различных уровнях. Соединение имеющихся технологических решений с элементами нового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Новые свойства старых систем за счет внедрения новых элементов </a:t>
            </a: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Calibri" charset="0"/>
              <a:cs typeface="Arial" pitchFamily="34" charset="0"/>
            </a:endParaRPr>
          </a:p>
        </p:txBody>
      </p:sp>
      <p:pic>
        <p:nvPicPr>
          <p:cNvPr id="14" name="Picture 11">
            <a:extLst>
              <a:ext uri="{FF2B5EF4-FFF2-40B4-BE49-F238E27FC236}">
                <a16:creationId xmlns:a16="http://schemas.microsoft.com/office/drawing/2014/main" id="{02E6379F-0ED3-D246-9416-AF5EF7EA5C3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07"/>
          <a:stretch/>
        </p:blipFill>
        <p:spPr>
          <a:xfrm>
            <a:off x="4346939" y="1714469"/>
            <a:ext cx="1273852" cy="1036474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7209376-B2EC-9D43-8767-EFC1037F112E}"/>
              </a:ext>
            </a:extLst>
          </p:cNvPr>
          <p:cNvSpPr txBox="1">
            <a:spLocks/>
          </p:cNvSpPr>
          <p:nvPr/>
        </p:nvSpPr>
        <p:spPr>
          <a:xfrm>
            <a:off x="5577781" y="1783583"/>
            <a:ext cx="2591180" cy="1865652"/>
          </a:xfrm>
          <a:prstGeom prst="rect">
            <a:avLst/>
          </a:prstGeom>
        </p:spPr>
        <p:txBody>
          <a:bodyPr vert="horz" lIns="67371" tIns="33686" rIns="67371" bIns="3368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7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2. </a:t>
            </a:r>
            <a:r>
              <a:rPr kumimoji="0" lang="ru-RU" sz="127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Модель деятельности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Изменение ролей и процессов классических участников, появление новых участников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Изменение сфер распределения  ответственности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Изменение точек принятия и передачи ответственности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Новые типы взаимодействия</a:t>
            </a: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Calibri" charset="0"/>
              <a:cs typeface="Arial" pitchFamily="34" charset="0"/>
            </a:endParaRP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1E50DB5-479C-DF4E-8817-DB0A7FB1C159}"/>
              </a:ext>
            </a:extLst>
          </p:cNvPr>
          <p:cNvGrpSpPr/>
          <p:nvPr/>
        </p:nvGrpSpPr>
        <p:grpSpPr>
          <a:xfrm>
            <a:off x="8039402" y="1584911"/>
            <a:ext cx="3611329" cy="2461641"/>
            <a:chOff x="-767506" y="844686"/>
            <a:chExt cx="6463941" cy="2644607"/>
          </a:xfrm>
        </p:grpSpPr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52C3F4C2-81DA-7148-BD51-BA0E977EAC2F}"/>
                </a:ext>
              </a:extLst>
            </p:cNvPr>
            <p:cNvSpPr txBox="1">
              <a:spLocks/>
            </p:cNvSpPr>
            <p:nvPr/>
          </p:nvSpPr>
          <p:spPr>
            <a:xfrm>
              <a:off x="1203648" y="1020888"/>
              <a:ext cx="4492787" cy="2468405"/>
            </a:xfrm>
            <a:prstGeom prst="rect">
              <a:avLst/>
            </a:prstGeom>
          </p:spPr>
          <p:txBody>
            <a:bodyPr vert="horz" lIns="67371" tIns="33686" rIns="67371" bIns="33686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127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charset="0"/>
                  <a:cs typeface="Arial" pitchFamily="34" charset="0"/>
                </a:rPr>
                <a:t>3</a:t>
              </a:r>
              <a:r>
                <a:rPr kumimoji="0" lang="en-US" sz="127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charset="0"/>
                  <a:cs typeface="Arial" pitchFamily="34" charset="0"/>
                </a:rPr>
                <a:t>. </a:t>
              </a:r>
              <a:r>
                <a:rPr kumimoji="0" lang="ru-RU" sz="127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charset="0"/>
                  <a:cs typeface="Arial" pitchFamily="34" charset="0"/>
                </a:rPr>
                <a:t>Бизнес модель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ru-RU" sz="127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charset="0"/>
                  <a:cs typeface="Arial" pitchFamily="34" charset="0"/>
                </a:rPr>
                <a:t>Изменение точек формирования и учета расходов и доходов, новые фин. модели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ru-RU" sz="127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charset="0"/>
                  <a:cs typeface="Arial" pitchFamily="34" charset="0"/>
                </a:rPr>
                <a:t>Изменение формирования структуры и отношений в распределении ответственности, рисков и угроз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ru-RU" sz="127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charset="0"/>
                  <a:cs typeface="Arial" pitchFamily="34" charset="0"/>
                </a:rPr>
                <a:t>Новые форматы принятия решений о продуктах и сервисах</a:t>
              </a:r>
              <a:endPara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endParaRPr>
            </a:p>
          </p:txBody>
        </p:sp>
        <p:pic>
          <p:nvPicPr>
            <p:cNvPr id="19" name="Picture 13">
              <a:extLst>
                <a:ext uri="{FF2B5EF4-FFF2-40B4-BE49-F238E27FC236}">
                  <a16:creationId xmlns:a16="http://schemas.microsoft.com/office/drawing/2014/main" id="{27B0C779-EF8D-FB44-BA0E-C628193DB5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007"/>
            <a:stretch/>
          </p:blipFill>
          <p:spPr>
            <a:xfrm>
              <a:off x="-767506" y="844686"/>
              <a:ext cx="2319005" cy="1115954"/>
            </a:xfrm>
            <a:prstGeom prst="rect">
              <a:avLst/>
            </a:prstGeom>
          </p:spPr>
        </p:pic>
      </p:grpSp>
      <p:grpSp>
        <p:nvGrpSpPr>
          <p:cNvPr id="20" name="Group 16">
            <a:extLst>
              <a:ext uri="{FF2B5EF4-FFF2-40B4-BE49-F238E27FC236}">
                <a16:creationId xmlns:a16="http://schemas.microsoft.com/office/drawing/2014/main" id="{26A4961E-E4E2-0A43-A46F-DB0778A856D2}"/>
              </a:ext>
            </a:extLst>
          </p:cNvPr>
          <p:cNvGrpSpPr/>
          <p:nvPr/>
        </p:nvGrpSpPr>
        <p:grpSpPr>
          <a:xfrm>
            <a:off x="395356" y="4206361"/>
            <a:ext cx="3951583" cy="2280242"/>
            <a:chOff x="6088613" y="960595"/>
            <a:chExt cx="6313515" cy="2658368"/>
          </a:xfrm>
        </p:grpSpPr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97209376-B2EC-9D43-8767-EFC1037F112E}"/>
                </a:ext>
              </a:extLst>
            </p:cNvPr>
            <p:cNvSpPr txBox="1">
              <a:spLocks/>
            </p:cNvSpPr>
            <p:nvPr/>
          </p:nvSpPr>
          <p:spPr>
            <a:xfrm>
              <a:off x="7602068" y="960595"/>
              <a:ext cx="4800060" cy="2658368"/>
            </a:xfrm>
            <a:prstGeom prst="rect">
              <a:avLst/>
            </a:prstGeom>
          </p:spPr>
          <p:txBody>
            <a:bodyPr vert="horz" lIns="67371" tIns="33686" rIns="67371" bIns="33686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ru-RU" sz="127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charset="0"/>
                  <a:cs typeface="Arial" pitchFamily="34" charset="0"/>
                </a:rPr>
                <a:t>4</a:t>
              </a:r>
              <a:r>
                <a:rPr kumimoji="0" lang="en-US" sz="127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charset="0"/>
                  <a:cs typeface="Arial" pitchFamily="34" charset="0"/>
                </a:rPr>
                <a:t>. </a:t>
              </a:r>
              <a:r>
                <a:rPr kumimoji="0" lang="ru-RU" sz="127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charset="0"/>
                  <a:cs typeface="Arial" pitchFamily="34" charset="0"/>
                </a:rPr>
                <a:t>Организационная модель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ru-RU" sz="127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charset="0"/>
                  <a:cs typeface="Arial" pitchFamily="34" charset="0"/>
                </a:rPr>
                <a:t>Следует из модели деятельности</a:t>
              </a:r>
              <a:endPara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ru-RU" sz="127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charset="0"/>
                  <a:cs typeface="Arial" pitchFamily="34" charset="0"/>
                </a:rPr>
                <a:t>Соединяет модель деятельности и бизнес модель на основе технологической модели 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ru-RU" sz="127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charset="0"/>
                  <a:cs typeface="Arial" pitchFamily="34" charset="0"/>
                </a:rPr>
                <a:t>Новые штатные расписания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ru-RU" sz="127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charset="0"/>
                  <a:cs typeface="Arial" pitchFamily="34" charset="0"/>
                </a:rPr>
                <a:t>Новые профессии и должности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ru-RU" sz="127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Calibri" charset="0"/>
                  <a:cs typeface="Arial" pitchFamily="34" charset="0"/>
                </a:rPr>
                <a:t>Новые формат и содержание приказов и контрактов</a:t>
              </a:r>
            </a:p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endParaRPr>
            </a:p>
          </p:txBody>
        </p:sp>
        <p:pic>
          <p:nvPicPr>
            <p:cNvPr id="22" name="Picture 15">
              <a:extLst>
                <a:ext uri="{FF2B5EF4-FFF2-40B4-BE49-F238E27FC236}">
                  <a16:creationId xmlns:a16="http://schemas.microsoft.com/office/drawing/2014/main" id="{880A5682-2249-F74A-A578-8868CC8ABD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488"/>
            <a:stretch/>
          </p:blipFill>
          <p:spPr>
            <a:xfrm>
              <a:off x="6088613" y="1035126"/>
              <a:ext cx="1513454" cy="1324450"/>
            </a:xfrm>
            <a:prstGeom prst="rect">
              <a:avLst/>
            </a:prstGeom>
          </p:spPr>
        </p:pic>
      </p:grpSp>
      <p:pic>
        <p:nvPicPr>
          <p:cNvPr id="23" name="Picture 23">
            <a:extLst>
              <a:ext uri="{FF2B5EF4-FFF2-40B4-BE49-F238E27FC236}">
                <a16:creationId xmlns:a16="http://schemas.microsoft.com/office/drawing/2014/main" id="{00AD2C91-9B2B-6F4E-94F7-DCE886E1D7E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76"/>
          <a:stretch/>
        </p:blipFill>
        <p:spPr>
          <a:xfrm>
            <a:off x="4411718" y="4248855"/>
            <a:ext cx="1036474" cy="1158078"/>
          </a:xfrm>
          <a:prstGeom prst="rect">
            <a:avLst/>
          </a:prstGeom>
        </p:spPr>
      </p:pic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ADAC3D41-4CAE-8C48-8CBE-0DCA49972A64}"/>
              </a:ext>
            </a:extLst>
          </p:cNvPr>
          <p:cNvSpPr txBox="1">
            <a:spLocks/>
          </p:cNvSpPr>
          <p:nvPr/>
        </p:nvSpPr>
        <p:spPr>
          <a:xfrm>
            <a:off x="5383419" y="4210307"/>
            <a:ext cx="2625733" cy="1326186"/>
          </a:xfrm>
          <a:prstGeom prst="rect">
            <a:avLst/>
          </a:prstGeom>
        </p:spPr>
        <p:txBody>
          <a:bodyPr vert="horz" lIns="67371" tIns="33686" rIns="67371" bIns="3368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27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5</a:t>
            </a:r>
            <a:r>
              <a:rPr kumimoji="0" lang="en-US" sz="127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. </a:t>
            </a:r>
            <a:r>
              <a:rPr kumimoji="0" lang="ru-RU" sz="127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Регуляторная модель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Закрепляет новые виды хозяйственной деятельности физических и юридических лиц в масштабе: отрасль, регион, между отраслями, между регионами и в стране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Новые параметры экспорта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Новые регуляторные</a:t>
            </a:r>
            <a:r>
              <a:rPr kumimoji="0" lang="en-US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 </a:t>
            </a:r>
            <a:r>
              <a:rPr kumimoji="0" lang="ru-RU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задачи и функции</a:t>
            </a:r>
            <a:endParaRPr kumimoji="0" lang="en-US" sz="12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Calibri" charset="0"/>
              <a:cs typeface="Arial" pitchFamily="34" charset="0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DAC3D41-4CAE-8C48-8CBE-0DCA49972A64}"/>
              </a:ext>
            </a:extLst>
          </p:cNvPr>
          <p:cNvSpPr txBox="1">
            <a:spLocks/>
          </p:cNvSpPr>
          <p:nvPr/>
        </p:nvSpPr>
        <p:spPr>
          <a:xfrm>
            <a:off x="9170911" y="4210306"/>
            <a:ext cx="2625733" cy="1650087"/>
          </a:xfrm>
          <a:prstGeom prst="rect">
            <a:avLst/>
          </a:prstGeom>
        </p:spPr>
        <p:txBody>
          <a:bodyPr vert="horz" lIns="67371" tIns="33686" rIns="67371" bIns="33686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27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6</a:t>
            </a:r>
            <a:r>
              <a:rPr kumimoji="0" lang="en-US" sz="127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. </a:t>
            </a:r>
            <a:r>
              <a:rPr kumimoji="0" lang="ru-RU" sz="127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Образовательная модель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Calibri" charset="0"/>
                <a:cs typeface="Arial" pitchFamily="34" charset="0"/>
              </a:rPr>
              <a:t>Формирует профессионально -функциональные  группы сотрудников в реализации инновационных проектов по каждой из моделей</a:t>
            </a:r>
          </a:p>
        </p:txBody>
      </p:sp>
      <p:pic>
        <p:nvPicPr>
          <p:cNvPr id="1027" name="Picture 3" descr="C:\Users\User\Downloads\48785-200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053950" y="4190660"/>
            <a:ext cx="1216273" cy="12162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>
            <a:extLst>
              <a:ext uri="{FF2B5EF4-FFF2-40B4-BE49-F238E27FC236}">
                <a16:creationId xmlns:a16="http://schemas.microsoft.com/office/drawing/2014/main" id="{FDA23B2D-363C-7448-B3A8-EE939D42B12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3" r="12880" b="14178"/>
          <a:stretch/>
        </p:blipFill>
        <p:spPr>
          <a:xfrm>
            <a:off x="177573" y="1691780"/>
            <a:ext cx="1162441" cy="898277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2C3F4C2-81DA-7148-BD51-BA0E977EAC2F}"/>
              </a:ext>
            </a:extLst>
          </p:cNvPr>
          <p:cNvSpPr txBox="1">
            <a:spLocks/>
          </p:cNvSpPr>
          <p:nvPr/>
        </p:nvSpPr>
        <p:spPr>
          <a:xfrm>
            <a:off x="1372276" y="1599434"/>
            <a:ext cx="1602129" cy="618655"/>
          </a:xfrm>
          <a:prstGeom prst="rect">
            <a:avLst/>
          </a:prstGeom>
        </p:spPr>
        <p:txBody>
          <a:bodyPr vert="horz" lIns="67371" tIns="33687" rIns="67371" bIns="33687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7">
              <a:lnSpc>
                <a:spcPct val="100000"/>
              </a:lnSpc>
              <a:buNone/>
              <a:defRPr/>
            </a:pPr>
            <a:r>
              <a:rPr lang="en-US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ru-RU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Технологическая модель</a:t>
            </a:r>
          </a:p>
        </p:txBody>
      </p:sp>
      <p:pic>
        <p:nvPicPr>
          <p:cNvPr id="14" name="Picture 11">
            <a:extLst>
              <a:ext uri="{FF2B5EF4-FFF2-40B4-BE49-F238E27FC236}">
                <a16:creationId xmlns:a16="http://schemas.microsoft.com/office/drawing/2014/main" id="{02E6379F-0ED3-D246-9416-AF5EF7EA5C3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07"/>
          <a:stretch/>
        </p:blipFill>
        <p:spPr>
          <a:xfrm>
            <a:off x="2134030" y="2099080"/>
            <a:ext cx="1195892" cy="1036475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7209376-B2EC-9D43-8767-EFC1037F112E}"/>
              </a:ext>
            </a:extLst>
          </p:cNvPr>
          <p:cNvSpPr txBox="1">
            <a:spLocks/>
          </p:cNvSpPr>
          <p:nvPr/>
        </p:nvSpPr>
        <p:spPr>
          <a:xfrm>
            <a:off x="3271802" y="2300455"/>
            <a:ext cx="1695868" cy="696147"/>
          </a:xfrm>
          <a:prstGeom prst="rect">
            <a:avLst/>
          </a:prstGeom>
        </p:spPr>
        <p:txBody>
          <a:bodyPr vert="horz" lIns="67371" tIns="33687" rIns="67371" bIns="33687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7">
              <a:spcBef>
                <a:spcPts val="0"/>
              </a:spcBef>
              <a:buNone/>
              <a:defRPr/>
            </a:pPr>
            <a:r>
              <a:rPr lang="en-US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ru-RU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Модель профессионально-функциональная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1E50DB5-479C-DF4E-8817-DB0A7FB1C159}"/>
              </a:ext>
            </a:extLst>
          </p:cNvPr>
          <p:cNvGrpSpPr/>
          <p:nvPr/>
        </p:nvGrpSpPr>
        <p:grpSpPr>
          <a:xfrm>
            <a:off x="203526" y="3069700"/>
            <a:ext cx="2554250" cy="1038747"/>
            <a:chOff x="-767506" y="844686"/>
            <a:chExt cx="4869907" cy="1115954"/>
          </a:xfrm>
        </p:grpSpPr>
        <p:sp>
          <p:nvSpPr>
            <p:cNvPr id="18" name="Content Placeholder 2">
              <a:extLst>
                <a:ext uri="{FF2B5EF4-FFF2-40B4-BE49-F238E27FC236}">
                  <a16:creationId xmlns:a16="http://schemas.microsoft.com/office/drawing/2014/main" id="{52C3F4C2-81DA-7148-BD51-BA0E977EAC2F}"/>
                </a:ext>
              </a:extLst>
            </p:cNvPr>
            <p:cNvSpPr txBox="1">
              <a:spLocks/>
            </p:cNvSpPr>
            <p:nvPr/>
          </p:nvSpPr>
          <p:spPr>
            <a:xfrm>
              <a:off x="1203648" y="1020888"/>
              <a:ext cx="2898753" cy="317364"/>
            </a:xfrm>
            <a:prstGeom prst="rect">
              <a:avLst/>
            </a:prstGeom>
          </p:spPr>
          <p:txBody>
            <a:bodyPr vert="horz" lIns="67371" tIns="33687" rIns="67371" bIns="33687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914377">
                <a:spcBef>
                  <a:spcPts val="0"/>
                </a:spcBef>
                <a:buNone/>
                <a:defRPr/>
              </a:pPr>
              <a:r>
                <a:rPr lang="ru-RU" sz="1271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3</a:t>
              </a:r>
              <a:r>
                <a:rPr lang="en-US" sz="1271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. </a:t>
              </a:r>
              <a:r>
                <a:rPr lang="ru-RU" sz="1271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Бизнес модель</a:t>
              </a:r>
            </a:p>
          </p:txBody>
        </p:sp>
        <p:pic>
          <p:nvPicPr>
            <p:cNvPr id="19" name="Picture 13">
              <a:extLst>
                <a:ext uri="{FF2B5EF4-FFF2-40B4-BE49-F238E27FC236}">
                  <a16:creationId xmlns:a16="http://schemas.microsoft.com/office/drawing/2014/main" id="{27B0C779-EF8D-FB44-BA0E-C628193DB5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007"/>
            <a:stretch/>
          </p:blipFill>
          <p:spPr>
            <a:xfrm>
              <a:off x="-767506" y="844686"/>
              <a:ext cx="2319005" cy="1115954"/>
            </a:xfrm>
            <a:prstGeom prst="rect">
              <a:avLst/>
            </a:prstGeom>
          </p:spPr>
        </p:pic>
      </p:grpSp>
      <p:grpSp>
        <p:nvGrpSpPr>
          <p:cNvPr id="20" name="Group 16">
            <a:extLst>
              <a:ext uri="{FF2B5EF4-FFF2-40B4-BE49-F238E27FC236}">
                <a16:creationId xmlns:a16="http://schemas.microsoft.com/office/drawing/2014/main" id="{26A4961E-E4E2-0A43-A46F-DB0778A856D2}"/>
              </a:ext>
            </a:extLst>
          </p:cNvPr>
          <p:cNvGrpSpPr/>
          <p:nvPr/>
        </p:nvGrpSpPr>
        <p:grpSpPr>
          <a:xfrm>
            <a:off x="2372379" y="3414657"/>
            <a:ext cx="2429679" cy="1199991"/>
            <a:chOff x="6088613" y="960595"/>
            <a:chExt cx="4135004" cy="1398981"/>
          </a:xfrm>
        </p:grpSpPr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97209376-B2EC-9D43-8767-EFC1037F112E}"/>
                </a:ext>
              </a:extLst>
            </p:cNvPr>
            <p:cNvSpPr txBox="1">
              <a:spLocks/>
            </p:cNvSpPr>
            <p:nvPr/>
          </p:nvSpPr>
          <p:spPr>
            <a:xfrm>
              <a:off x="7602069" y="960595"/>
              <a:ext cx="2621548" cy="721245"/>
            </a:xfrm>
            <a:prstGeom prst="rect">
              <a:avLst/>
            </a:prstGeom>
          </p:spPr>
          <p:txBody>
            <a:bodyPr vert="horz" lIns="67371" tIns="33687" rIns="67371" bIns="33687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+mj-lt"/>
                  <a:ea typeface="Calibri" charset="0"/>
                  <a:cs typeface="Calibri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914377">
                <a:spcBef>
                  <a:spcPts val="0"/>
                </a:spcBef>
                <a:buNone/>
                <a:defRPr/>
              </a:pPr>
              <a:r>
                <a:rPr lang="ru-RU" sz="1271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4</a:t>
              </a:r>
              <a:r>
                <a:rPr lang="en-US" sz="1271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. </a:t>
              </a:r>
              <a:r>
                <a:rPr lang="ru-RU" sz="1271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Организационная модель</a:t>
              </a:r>
            </a:p>
            <a:p>
              <a:pPr marL="0" indent="0" defTabSz="914377">
                <a:spcBef>
                  <a:spcPts val="0"/>
                </a:spcBef>
                <a:buNone/>
                <a:defRPr/>
              </a:pPr>
              <a:endParaRPr lang="en-US" sz="1271" dirty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2" name="Picture 15">
              <a:extLst>
                <a:ext uri="{FF2B5EF4-FFF2-40B4-BE49-F238E27FC236}">
                  <a16:creationId xmlns:a16="http://schemas.microsoft.com/office/drawing/2014/main" id="{880A5682-2249-F74A-A578-8868CC8ABDA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488"/>
            <a:stretch/>
          </p:blipFill>
          <p:spPr>
            <a:xfrm>
              <a:off x="6088613" y="1035126"/>
              <a:ext cx="1513454" cy="1324450"/>
            </a:xfrm>
            <a:prstGeom prst="rect">
              <a:avLst/>
            </a:prstGeom>
          </p:spPr>
        </p:pic>
      </p:grpSp>
      <p:pic>
        <p:nvPicPr>
          <p:cNvPr id="23" name="Picture 23">
            <a:extLst>
              <a:ext uri="{FF2B5EF4-FFF2-40B4-BE49-F238E27FC236}">
                <a16:creationId xmlns:a16="http://schemas.microsoft.com/office/drawing/2014/main" id="{00AD2C91-9B2B-6F4E-94F7-DCE886E1D7E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76"/>
          <a:stretch/>
        </p:blipFill>
        <p:spPr>
          <a:xfrm>
            <a:off x="366972" y="4773226"/>
            <a:ext cx="973043" cy="1158079"/>
          </a:xfrm>
          <a:prstGeom prst="rect">
            <a:avLst/>
          </a:prstGeom>
        </p:spPr>
      </p:pic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ADAC3D41-4CAE-8C48-8CBE-0DCA49972A64}"/>
              </a:ext>
            </a:extLst>
          </p:cNvPr>
          <p:cNvSpPr txBox="1">
            <a:spLocks/>
          </p:cNvSpPr>
          <p:nvPr/>
        </p:nvSpPr>
        <p:spPr>
          <a:xfrm>
            <a:off x="396542" y="6090695"/>
            <a:ext cx="2002703" cy="361693"/>
          </a:xfrm>
          <a:prstGeom prst="rect">
            <a:avLst/>
          </a:prstGeom>
        </p:spPr>
        <p:txBody>
          <a:bodyPr vert="horz" lIns="67371" tIns="33687" rIns="67371" bIns="33687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7">
              <a:spcBef>
                <a:spcPts val="0"/>
              </a:spcBef>
              <a:buNone/>
              <a:defRPr/>
            </a:pPr>
            <a:r>
              <a:rPr lang="ru-RU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US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ru-RU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Регуляторная модель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DAC3D41-4CAE-8C48-8CBE-0DCA49972A64}"/>
              </a:ext>
            </a:extLst>
          </p:cNvPr>
          <p:cNvSpPr txBox="1">
            <a:spLocks/>
          </p:cNvSpPr>
          <p:nvPr/>
        </p:nvSpPr>
        <p:spPr>
          <a:xfrm>
            <a:off x="3207988" y="5093071"/>
            <a:ext cx="1655238" cy="493431"/>
          </a:xfrm>
          <a:prstGeom prst="rect">
            <a:avLst/>
          </a:prstGeom>
        </p:spPr>
        <p:txBody>
          <a:bodyPr vert="horz" lIns="67371" tIns="33687" rIns="67371" bIns="33687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7">
              <a:spcBef>
                <a:spcPts val="0"/>
              </a:spcBef>
              <a:buNone/>
              <a:defRPr/>
            </a:pPr>
            <a:r>
              <a:rPr lang="ru-RU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US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ru-RU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Образовательная модель</a:t>
            </a:r>
          </a:p>
        </p:txBody>
      </p:sp>
      <p:pic>
        <p:nvPicPr>
          <p:cNvPr id="1027" name="Picture 3" descr="C:\Users\User\Downloads\48785-200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195558" y="5005168"/>
            <a:ext cx="1141837" cy="1216273"/>
          </a:xfrm>
          <a:prstGeom prst="rect">
            <a:avLst/>
          </a:prstGeom>
          <a:noFill/>
        </p:spPr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E9383F3-924E-46C5-BB89-4B48849AF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51" y="226515"/>
            <a:ext cx="11299097" cy="1134033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ТРАНСФОРМАЦИЯ ПО 6 МОДЕЛЯМ – ЭФФЕКТЫ ПО 6-ТИ ПОКАЗАТЕЛЯМ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AF345633-27C0-406D-951F-8FA892EDE351}"/>
              </a:ext>
            </a:extLst>
          </p:cNvPr>
          <p:cNvSpPr txBox="1">
            <a:spLocks/>
          </p:cNvSpPr>
          <p:nvPr/>
        </p:nvSpPr>
        <p:spPr>
          <a:xfrm>
            <a:off x="8880407" y="1646297"/>
            <a:ext cx="1655238" cy="493431"/>
          </a:xfrm>
          <a:prstGeom prst="rect">
            <a:avLst/>
          </a:prstGeom>
        </p:spPr>
        <p:txBody>
          <a:bodyPr vert="horz" lIns="67371" tIns="33687" rIns="67371" bIns="33687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7">
              <a:spcBef>
                <a:spcPts val="0"/>
              </a:spcBef>
              <a:buNone/>
              <a:defRPr/>
            </a:pPr>
            <a:r>
              <a:rPr lang="ru-RU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1. Наблюдаемость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8DC2FAF-1972-482E-B510-4BBAD9411B57}"/>
              </a:ext>
            </a:extLst>
          </p:cNvPr>
          <p:cNvSpPr txBox="1">
            <a:spLocks/>
          </p:cNvSpPr>
          <p:nvPr/>
        </p:nvSpPr>
        <p:spPr>
          <a:xfrm>
            <a:off x="9267853" y="2734490"/>
            <a:ext cx="1655238" cy="493431"/>
          </a:xfrm>
          <a:prstGeom prst="rect">
            <a:avLst/>
          </a:prstGeom>
        </p:spPr>
        <p:txBody>
          <a:bodyPr vert="horz" lIns="67371" tIns="33687" rIns="67371" bIns="33687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7">
              <a:spcBef>
                <a:spcPts val="0"/>
              </a:spcBef>
              <a:buNone/>
              <a:defRPr/>
            </a:pPr>
            <a:r>
              <a:rPr lang="ru-RU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2. Доступность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C23EA12D-1877-4997-810E-65B4952EDC2F}"/>
              </a:ext>
            </a:extLst>
          </p:cNvPr>
          <p:cNvSpPr txBox="1">
            <a:spLocks/>
          </p:cNvSpPr>
          <p:nvPr/>
        </p:nvSpPr>
        <p:spPr>
          <a:xfrm>
            <a:off x="8926817" y="3303998"/>
            <a:ext cx="1256132" cy="771429"/>
          </a:xfrm>
          <a:prstGeom prst="rect">
            <a:avLst/>
          </a:prstGeom>
        </p:spPr>
        <p:txBody>
          <a:bodyPr vert="horz" lIns="67371" tIns="33687" rIns="67371" bIns="33687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7">
              <a:spcBef>
                <a:spcPts val="0"/>
              </a:spcBef>
              <a:buNone/>
              <a:defRPr/>
            </a:pPr>
            <a:r>
              <a:rPr lang="ru-RU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3. Адаптивность/Устойчивость/Гибкость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CE2F9765-C0AC-41C6-A5F4-CAC1E61D058D}"/>
              </a:ext>
            </a:extLst>
          </p:cNvPr>
          <p:cNvSpPr txBox="1">
            <a:spLocks/>
          </p:cNvSpPr>
          <p:nvPr/>
        </p:nvSpPr>
        <p:spPr>
          <a:xfrm>
            <a:off x="9253352" y="4435494"/>
            <a:ext cx="1432795" cy="281319"/>
          </a:xfrm>
          <a:prstGeom prst="rect">
            <a:avLst/>
          </a:prstGeom>
        </p:spPr>
        <p:txBody>
          <a:bodyPr vert="horz" lIns="67371" tIns="33687" rIns="67371" bIns="33687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7">
              <a:spcBef>
                <a:spcPts val="0"/>
              </a:spcBef>
              <a:buNone/>
              <a:defRPr/>
            </a:pPr>
            <a:r>
              <a:rPr lang="ru-RU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4. Надежность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16673B00-28BC-4098-8CD3-A66D014AE619}"/>
              </a:ext>
            </a:extLst>
          </p:cNvPr>
          <p:cNvSpPr txBox="1">
            <a:spLocks/>
          </p:cNvSpPr>
          <p:nvPr/>
        </p:nvSpPr>
        <p:spPr>
          <a:xfrm>
            <a:off x="8839422" y="5104530"/>
            <a:ext cx="1405003" cy="493431"/>
          </a:xfrm>
          <a:prstGeom prst="rect">
            <a:avLst/>
          </a:prstGeom>
        </p:spPr>
        <p:txBody>
          <a:bodyPr vert="horz" lIns="67371" tIns="33687" rIns="67371" bIns="33687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7">
              <a:spcBef>
                <a:spcPts val="0"/>
              </a:spcBef>
              <a:buNone/>
              <a:defRPr/>
            </a:pPr>
            <a:r>
              <a:rPr lang="ru-RU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5. Качество</a:t>
            </a:r>
          </a:p>
        </p:txBody>
      </p:sp>
      <p:pic>
        <p:nvPicPr>
          <p:cNvPr id="1026" name="Picture 2" descr="Лупа – Бесплатные иконки: инструменты редактирования">
            <a:extLst>
              <a:ext uri="{FF2B5EF4-FFF2-40B4-BE49-F238E27FC236}">
                <a16:creationId xmlns:a16="http://schemas.microsoft.com/office/drawing/2014/main" id="{313C062E-EC42-451A-B10F-07696088F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872" y="1634689"/>
            <a:ext cx="1064630" cy="113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Гибкость – Бесплатные иконки: стрелы">
            <a:extLst>
              <a:ext uri="{FF2B5EF4-FFF2-40B4-BE49-F238E27FC236}">
                <a16:creationId xmlns:a16="http://schemas.microsoft.com/office/drawing/2014/main" id="{C2A04FF6-5B7E-44B0-8398-885F68609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6186" y="3069699"/>
            <a:ext cx="1038805" cy="1106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Надежность – Бесплатные иконки: безопасность">
            <a:extLst>
              <a:ext uri="{FF2B5EF4-FFF2-40B4-BE49-F238E27FC236}">
                <a16:creationId xmlns:a16="http://schemas.microsoft.com/office/drawing/2014/main" id="{C61BA9F2-3CEE-4760-87D2-77460F5A2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494" y="4019378"/>
            <a:ext cx="860129" cy="91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32889662-A59C-43AC-B3F8-F737608E84F6}"/>
              </a:ext>
            </a:extLst>
          </p:cNvPr>
          <p:cNvSpPr txBox="1">
            <a:spLocks/>
          </p:cNvSpPr>
          <p:nvPr/>
        </p:nvSpPr>
        <p:spPr>
          <a:xfrm>
            <a:off x="9281144" y="5888405"/>
            <a:ext cx="1405003" cy="493431"/>
          </a:xfrm>
          <a:prstGeom prst="rect">
            <a:avLst/>
          </a:prstGeom>
        </p:spPr>
        <p:txBody>
          <a:bodyPr vert="horz" lIns="67371" tIns="33687" rIns="67371" bIns="33687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j-lt"/>
                <a:ea typeface="Calibri" charset="0"/>
                <a:cs typeface="Calibri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7">
              <a:spcBef>
                <a:spcPts val="0"/>
              </a:spcBef>
              <a:buNone/>
              <a:defRPr/>
            </a:pPr>
            <a:r>
              <a:rPr lang="ru-RU" sz="1271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6. Стоимость владения в Жизненном Цикле</a:t>
            </a:r>
          </a:p>
        </p:txBody>
      </p:sp>
      <p:pic>
        <p:nvPicPr>
          <p:cNvPr id="1038" name="Picture 14" descr="Качество – Бесплатные иконки: поисковая оптимизация и Интернет">
            <a:extLst>
              <a:ext uri="{FF2B5EF4-FFF2-40B4-BE49-F238E27FC236}">
                <a16:creationId xmlns:a16="http://schemas.microsoft.com/office/drawing/2014/main" id="{2D78BF75-07A0-4201-95BE-EE0994A30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091" y="4877555"/>
            <a:ext cx="1038804" cy="110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Изготовление надгробных памятников на могилу в Муроме | Салон Камня">
            <a:extLst>
              <a:ext uri="{FF2B5EF4-FFF2-40B4-BE49-F238E27FC236}">
                <a16:creationId xmlns:a16="http://schemas.microsoft.com/office/drawing/2014/main" id="{E2905CF1-6579-4E72-9DF6-3B648A6DC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326" y="5665763"/>
            <a:ext cx="1038805" cy="845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электробытовые значок - ico,png,icns,Бесплатные иконки скачать">
            <a:extLst>
              <a:ext uri="{FF2B5EF4-FFF2-40B4-BE49-F238E27FC236}">
                <a16:creationId xmlns:a16="http://schemas.microsoft.com/office/drawing/2014/main" id="{C947F80A-7AC3-41F6-944E-6A31FB745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1304" y="2358213"/>
            <a:ext cx="791995" cy="84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C5140D47-4382-42A0-A114-3AD52DFCAD36}"/>
              </a:ext>
            </a:extLst>
          </p:cNvPr>
          <p:cNvCxnSpPr/>
          <p:nvPr/>
        </p:nvCxnSpPr>
        <p:spPr>
          <a:xfrm flipV="1">
            <a:off x="7511740" y="1599434"/>
            <a:ext cx="0" cy="701023"/>
          </a:xfrm>
          <a:prstGeom prst="straightConnector1">
            <a:avLst/>
          </a:prstGeom>
          <a:ln w="73025">
            <a:solidFill>
              <a:schemeClr val="accent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CA4FFD2F-9393-4B92-8813-5382B7CA6D8F}"/>
              </a:ext>
            </a:extLst>
          </p:cNvPr>
          <p:cNvCxnSpPr/>
          <p:nvPr/>
        </p:nvCxnSpPr>
        <p:spPr>
          <a:xfrm flipV="1">
            <a:off x="11693216" y="2500814"/>
            <a:ext cx="0" cy="701023"/>
          </a:xfrm>
          <a:prstGeom prst="straightConnector1">
            <a:avLst/>
          </a:prstGeom>
          <a:ln w="73025">
            <a:solidFill>
              <a:schemeClr val="accent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9E65381B-D137-4F44-8A5D-EFCA88048289}"/>
              </a:ext>
            </a:extLst>
          </p:cNvPr>
          <p:cNvCxnSpPr/>
          <p:nvPr/>
        </p:nvCxnSpPr>
        <p:spPr>
          <a:xfrm flipV="1">
            <a:off x="7511740" y="3128075"/>
            <a:ext cx="0" cy="701023"/>
          </a:xfrm>
          <a:prstGeom prst="straightConnector1">
            <a:avLst/>
          </a:prstGeom>
          <a:ln w="73025">
            <a:solidFill>
              <a:schemeClr val="accent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51727208-D464-4F24-8963-B5B874BBCFF6}"/>
              </a:ext>
            </a:extLst>
          </p:cNvPr>
          <p:cNvCxnSpPr/>
          <p:nvPr/>
        </p:nvCxnSpPr>
        <p:spPr>
          <a:xfrm flipV="1">
            <a:off x="11769416" y="4176225"/>
            <a:ext cx="0" cy="701023"/>
          </a:xfrm>
          <a:prstGeom prst="straightConnector1">
            <a:avLst/>
          </a:prstGeom>
          <a:ln w="73025">
            <a:solidFill>
              <a:schemeClr val="accent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72D90138-A83B-4FA4-86E2-841A078767BC}"/>
              </a:ext>
            </a:extLst>
          </p:cNvPr>
          <p:cNvCxnSpPr/>
          <p:nvPr/>
        </p:nvCxnSpPr>
        <p:spPr>
          <a:xfrm flipV="1">
            <a:off x="7538908" y="4896938"/>
            <a:ext cx="0" cy="701023"/>
          </a:xfrm>
          <a:prstGeom prst="straightConnector1">
            <a:avLst/>
          </a:prstGeom>
          <a:ln w="73025">
            <a:solidFill>
              <a:schemeClr val="accent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0EE0AAC3-3787-48AB-9816-63E433C9D00F}"/>
              </a:ext>
            </a:extLst>
          </p:cNvPr>
          <p:cNvCxnSpPr>
            <a:cxnSpLocks/>
          </p:cNvCxnSpPr>
          <p:nvPr/>
        </p:nvCxnSpPr>
        <p:spPr>
          <a:xfrm>
            <a:off x="11693216" y="5765002"/>
            <a:ext cx="0" cy="745359"/>
          </a:xfrm>
          <a:prstGeom prst="straightConnector1">
            <a:avLst/>
          </a:prstGeom>
          <a:ln w="73025">
            <a:solidFill>
              <a:schemeClr val="accent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Стрелка: вправо 48">
            <a:extLst>
              <a:ext uri="{FF2B5EF4-FFF2-40B4-BE49-F238E27FC236}">
                <a16:creationId xmlns:a16="http://schemas.microsoft.com/office/drawing/2014/main" id="{E3A5D9E9-A651-43AC-9C56-B651C0AF5BE0}"/>
              </a:ext>
            </a:extLst>
          </p:cNvPr>
          <p:cNvSpPr/>
          <p:nvPr/>
        </p:nvSpPr>
        <p:spPr>
          <a:xfrm>
            <a:off x="5103266" y="2323741"/>
            <a:ext cx="2102446" cy="587151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30963B3D-A3A9-5ED4-8E06-E02C6C84AF2A}"/>
              </a:ext>
            </a:extLst>
          </p:cNvPr>
          <p:cNvSpPr/>
          <p:nvPr/>
        </p:nvSpPr>
        <p:spPr>
          <a:xfrm>
            <a:off x="5103266" y="3563720"/>
            <a:ext cx="2102446" cy="587151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Стрелка: вправо 15">
            <a:extLst>
              <a:ext uri="{FF2B5EF4-FFF2-40B4-BE49-F238E27FC236}">
                <a16:creationId xmlns:a16="http://schemas.microsoft.com/office/drawing/2014/main" id="{44A0E941-6265-2D79-59B6-EBBFBD706001}"/>
              </a:ext>
            </a:extLst>
          </p:cNvPr>
          <p:cNvSpPr/>
          <p:nvPr/>
        </p:nvSpPr>
        <p:spPr>
          <a:xfrm>
            <a:off x="5103266" y="5057669"/>
            <a:ext cx="2102446" cy="587151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ru-RU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51780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6"/>
          <p:cNvSpPr txBox="1">
            <a:spLocks noGrp="1"/>
          </p:cNvSpPr>
          <p:nvPr>
            <p:ph type="body" idx="1"/>
          </p:nvPr>
        </p:nvSpPr>
        <p:spPr>
          <a:xfrm>
            <a:off x="2193727" y="1830586"/>
            <a:ext cx="7804500" cy="4420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marL="317500" indent="-203200">
              <a:spcBef>
                <a:spcPts val="0"/>
              </a:spcBef>
              <a:buNone/>
            </a:pPr>
            <a:endParaRPr/>
          </a:p>
        </p:txBody>
      </p:sp>
      <p:pic>
        <p:nvPicPr>
          <p:cNvPr id="507" name="Google Shape;507;p76" descr="C:\Users\Пользователь\Desktop\Снимок экрана 2017-11-07 в 11.39.52.png"/>
          <p:cNvPicPr preferRelativeResize="0"/>
          <p:nvPr/>
        </p:nvPicPr>
        <p:blipFill rotWithShape="1">
          <a:blip r:embed="rId3">
            <a:alphaModFix/>
          </a:blip>
          <a:srcRect t="8051" r="1900" b="3232"/>
          <a:stretch>
            <a:fillRect/>
          </a:stretch>
        </p:blipFill>
        <p:spPr>
          <a:xfrm>
            <a:off x="222250" y="1016000"/>
            <a:ext cx="11747500" cy="57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2">
            <a:extLst>
              <a:ext uri="{FF2B5EF4-FFF2-40B4-BE49-F238E27FC236}">
                <a16:creationId xmlns:a16="http://schemas.microsoft.com/office/drawing/2014/main" id="{00D24475-9C36-E5B8-87BD-4A4C78AC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51" y="226515"/>
            <a:ext cx="11299097" cy="1134033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ОНТОЛОГИЯ</a:t>
            </a:r>
          </a:p>
        </p:txBody>
      </p:sp>
    </p:spTree>
    <p:extLst>
      <p:ext uri="{BB962C8B-B14F-4D97-AF65-F5344CB8AC3E}">
        <p14:creationId xmlns:p14="http://schemas.microsoft.com/office/powerpoint/2010/main" val="436278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3"/>
          <p:cNvSpPr txBox="1">
            <a:spLocks noGrp="1"/>
          </p:cNvSpPr>
          <p:nvPr>
            <p:ph type="title"/>
          </p:nvPr>
        </p:nvSpPr>
        <p:spPr>
          <a:xfrm>
            <a:off x="2152650" y="237638"/>
            <a:ext cx="7886700" cy="1325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4275" tIns="32125" rIns="64275" bIns="3212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ru-RU" sz="2400" b="1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ОНТОЛОГИЯ. БАЗОВЫЕ ПОНЯТИЯ.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9" name="Google Shape;489;p73"/>
          <p:cNvSpPr txBox="1">
            <a:spLocks noGrp="1"/>
          </p:cNvSpPr>
          <p:nvPr>
            <p:ph type="body" idx="1"/>
          </p:nvPr>
        </p:nvSpPr>
        <p:spPr>
          <a:xfrm>
            <a:off x="1025577" y="1563038"/>
            <a:ext cx="10140846" cy="438691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4275" tIns="32125" rIns="64275" bIns="32125" rtlCol="0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dk1"/>
              </a:buClr>
              <a:buSzPts val="2000"/>
              <a:buNone/>
            </a:pP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Парадигма производства цифровых знаний, постулирует следующую модель  соглашения в отношении </a:t>
            </a:r>
            <a:r>
              <a:rPr lang="ru-RU" sz="2000" b="1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мета концептов для хранения и представления  </a:t>
            </a: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знаний любого рода:  </a:t>
            </a:r>
            <a:endParaRPr lang="en-US" sz="2000" dirty="0">
              <a:solidFill>
                <a:schemeClr val="dk1"/>
              </a:solidFill>
              <a:latin typeface="Arial" panose="020B0604020202020204" pitchFamily="34" charset="0"/>
              <a:ea typeface="Source Sans Pro"/>
              <a:cs typeface="Arial" panose="020B0604020202020204" pitchFamily="34" charset="0"/>
              <a:sym typeface="Source Sans Pro"/>
            </a:endParaRPr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2000"/>
              <a:buNone/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Мир состоит из Объектов, которые обладают Свойствами, свойства имеют Значения, значения свойств имеют Ограничения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Объекты вступают в Отношения, отношения также имеют Свойства и Значения, значения свойств отношений имеют Ограничения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Совокупность всех значений свойств/отношений/ограничений на момент времени определяет Состояние фрагмента модели знаний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Объекты существуют в рамках Времени, значения свойств которого изменяются 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Объекты существуют в рамках  Пространства, значения свойств которого могут изменяться во времени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00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4"/>
          <p:cNvSpPr txBox="1">
            <a:spLocks noGrp="1"/>
          </p:cNvSpPr>
          <p:nvPr>
            <p:ph type="body" idx="1"/>
          </p:nvPr>
        </p:nvSpPr>
        <p:spPr>
          <a:xfrm>
            <a:off x="737461" y="1563038"/>
            <a:ext cx="10717078" cy="4351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4275" tIns="32125" rIns="64275" bIns="32125" rtlCol="0" anchor="t" anchorCtr="0">
            <a:noAutofit/>
          </a:bodyPr>
          <a:lstStyle/>
          <a:p>
            <a:pPr lvl="1">
              <a:spcBef>
                <a:spcPts val="0"/>
              </a:spcBef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Изменения значений свойств </a:t>
            </a:r>
            <a:r>
              <a:rPr lang="ru-RU" sz="2000" b="1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Времени/Пространства</a:t>
            </a: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, может сопровождаться изменением свойств, значений свойств, отношений, ограничений Объектов разного рода в различных предметных областях 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Изменение этих значений ведет к возникновению </a:t>
            </a:r>
            <a:r>
              <a:rPr lang="ru-RU" sz="2000" b="1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Событий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Совокупности Событий, в свою очередь формируют </a:t>
            </a:r>
            <a:r>
              <a:rPr lang="ru-RU" sz="2000" b="1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Ситуации</a:t>
            </a: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 и необходимость  </a:t>
            </a:r>
            <a:r>
              <a:rPr lang="ru-RU" sz="2000" b="1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Выбора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Возникающие Ситуации требуют Принятия решений</a:t>
            </a:r>
            <a:endParaRPr sz="2000" dirty="0">
              <a:solidFill>
                <a:schemeClr val="dk1"/>
              </a:solidFill>
              <a:latin typeface="Arial" panose="020B0604020202020204" pitchFamily="34" charset="0"/>
              <a:ea typeface="Source Sans Pro"/>
              <a:cs typeface="Arial" panose="020B0604020202020204" pitchFamily="34" charset="0"/>
              <a:sym typeface="Source Sans Pro"/>
            </a:endParaRPr>
          </a:p>
          <a:p>
            <a:pPr marL="0" indent="0">
              <a:buClr>
                <a:schemeClr val="dk1"/>
              </a:buClr>
              <a:buSzPts val="1800"/>
              <a:buNone/>
            </a:pPr>
            <a:r>
              <a:rPr lang="ru-RU" sz="2000" b="1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Принятие решения </a:t>
            </a: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в этом контексте это </a:t>
            </a:r>
            <a:r>
              <a:rPr lang="ru-RU" sz="2000" b="1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Выбор</a:t>
            </a: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 одной из альтернативных коллекций параметров объектов: взаимодействующих объектов, набора свойств, значений свойств и ограничений объектов, отношений между объектами, их свойств, значений и ограничений.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Clr>
                <a:schemeClr val="dk1"/>
              </a:buClr>
              <a:buSzPts val="1800"/>
              <a:buNone/>
            </a:pP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Принятый  </a:t>
            </a:r>
            <a:r>
              <a:rPr lang="ru-RU" sz="2000" b="1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Выбор</a:t>
            </a: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 ведет к возникновению нового </a:t>
            </a:r>
            <a:r>
              <a:rPr lang="ru-RU" sz="2000" b="1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Состояния</a:t>
            </a:r>
            <a:r>
              <a:rPr lang="ru-RU" sz="2000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 фрагмента области знаний (предметного мира). 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-114300">
              <a:lnSpc>
                <a:spcPct val="80000"/>
              </a:lnSpc>
              <a:buClr>
                <a:schemeClr val="dk1"/>
              </a:buClr>
              <a:buSzPts val="1800"/>
              <a:buNone/>
            </a:pPr>
            <a:endParaRPr sz="24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indent="0">
              <a:lnSpc>
                <a:spcPct val="80000"/>
              </a:lnSpc>
              <a:buClr>
                <a:schemeClr val="dk1"/>
              </a:buClr>
              <a:buSzPts val="2000"/>
              <a:buNone/>
            </a:pPr>
            <a:endParaRPr sz="20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" name="Google Shape;488;p73">
            <a:extLst>
              <a:ext uri="{FF2B5EF4-FFF2-40B4-BE49-F238E27FC236}">
                <a16:creationId xmlns:a16="http://schemas.microsoft.com/office/drawing/2014/main" id="{2148AD87-F181-ADC0-23E4-AA424CE408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52650" y="237638"/>
            <a:ext cx="7886700" cy="1325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4275" tIns="32125" rIns="64275" bIns="32125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ru-RU" sz="2400" b="1" dirty="0">
                <a:solidFill>
                  <a:schemeClr val="dk1"/>
                </a:solidFill>
                <a:latin typeface="Arial" panose="020B0604020202020204" pitchFamily="34" charset="0"/>
                <a:ea typeface="Source Sans Pro"/>
                <a:cs typeface="Arial" panose="020B0604020202020204" pitchFamily="34" charset="0"/>
                <a:sym typeface="Source Sans Pro"/>
              </a:rPr>
              <a:t>ОНТОЛОГИЯ. БАЗОВЫЕ ПОНЯТИЯ.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154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8"/>
          <p:cNvSpPr txBox="1">
            <a:spLocks noChangeArrowheads="1"/>
          </p:cNvSpPr>
          <p:nvPr/>
        </p:nvSpPr>
        <p:spPr bwMode="auto">
          <a:xfrm>
            <a:off x="1989717" y="281646"/>
            <a:ext cx="82125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ru-RU" alt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ЖИЗНЕННЫЙ ЦИКЛ «ЗНАНИЕ-ПРОДУКТ»</a:t>
            </a:r>
            <a:r>
              <a:rPr lang="en-US" alt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alt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88746" y="950254"/>
            <a:ext cx="9014508" cy="574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5186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02D4BA-876B-6F20-5365-72A8CDCF9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901" y="4394466"/>
            <a:ext cx="5071040" cy="2198646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963A1EB-169D-6F81-92F8-495A1B2C8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712" y="2227505"/>
            <a:ext cx="2115024" cy="1625382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DC10C85-54BA-650A-403A-68B93226D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616" y="2227504"/>
            <a:ext cx="2800136" cy="1625382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cxnSp>
        <p:nvCxnSpPr>
          <p:cNvPr id="14" name="Соединитель: изогнутый 13">
            <a:extLst>
              <a:ext uri="{FF2B5EF4-FFF2-40B4-BE49-F238E27FC236}">
                <a16:creationId xmlns:a16="http://schemas.microsoft.com/office/drawing/2014/main" id="{7EE13D35-F7E5-976D-4E48-CCB3BDDD5295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rot="16200000" flipV="1">
            <a:off x="5186534" y="3400578"/>
            <a:ext cx="541579" cy="1446197"/>
          </a:xfrm>
          <a:prstGeom prst="curvedConnector3">
            <a:avLst>
              <a:gd name="adj1" fmla="val 50000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: изогнутый 24">
            <a:extLst>
              <a:ext uri="{FF2B5EF4-FFF2-40B4-BE49-F238E27FC236}">
                <a16:creationId xmlns:a16="http://schemas.microsoft.com/office/drawing/2014/main" id="{9DC30F5A-5935-5DA5-BB93-31DEB47966E4}"/>
              </a:ext>
            </a:extLst>
          </p:cNvPr>
          <p:cNvCxnSpPr>
            <a:cxnSpLocks/>
            <a:stCxn id="5" idx="0"/>
            <a:endCxn id="9" idx="2"/>
          </p:cNvCxnSpPr>
          <p:nvPr/>
        </p:nvCxnSpPr>
        <p:spPr>
          <a:xfrm rot="5400000" flipH="1" flipV="1">
            <a:off x="6493262" y="3540045"/>
            <a:ext cx="541580" cy="1167263"/>
          </a:xfrm>
          <a:prstGeom prst="curvedConnector3">
            <a:avLst>
              <a:gd name="adj1" fmla="val 50000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Овал 27">
            <a:extLst>
              <a:ext uri="{FF2B5EF4-FFF2-40B4-BE49-F238E27FC236}">
                <a16:creationId xmlns:a16="http://schemas.microsoft.com/office/drawing/2014/main" id="{F7176227-96A2-7B9D-A62C-F3331B131902}"/>
              </a:ext>
            </a:extLst>
          </p:cNvPr>
          <p:cNvSpPr/>
          <p:nvPr/>
        </p:nvSpPr>
        <p:spPr>
          <a:xfrm>
            <a:off x="1940278" y="874281"/>
            <a:ext cx="857250" cy="8572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F4499387-43E1-3D91-FE54-F75F85C1FF74}"/>
              </a:ext>
            </a:extLst>
          </p:cNvPr>
          <p:cNvSpPr/>
          <p:nvPr/>
        </p:nvSpPr>
        <p:spPr>
          <a:xfrm>
            <a:off x="4305599" y="264888"/>
            <a:ext cx="857250" cy="8572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69795D72-5514-657A-50B6-31271F33CD68}"/>
              </a:ext>
            </a:extLst>
          </p:cNvPr>
          <p:cNvSpPr/>
          <p:nvPr/>
        </p:nvSpPr>
        <p:spPr>
          <a:xfrm>
            <a:off x="1379837" y="2362200"/>
            <a:ext cx="857250" cy="8572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79D4A787-9AA9-DDD3-3E4E-282B1AF77589}"/>
              </a:ext>
            </a:extLst>
          </p:cNvPr>
          <p:cNvSpPr/>
          <p:nvPr/>
        </p:nvSpPr>
        <p:spPr>
          <a:xfrm>
            <a:off x="6870891" y="264888"/>
            <a:ext cx="857250" cy="8572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9D42044D-BA18-E3FE-C73C-50B186018192}"/>
              </a:ext>
            </a:extLst>
          </p:cNvPr>
          <p:cNvSpPr/>
          <p:nvPr/>
        </p:nvSpPr>
        <p:spPr>
          <a:xfrm>
            <a:off x="9066458" y="579221"/>
            <a:ext cx="857250" cy="8572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FA803245-EB9B-41CA-E792-26B2A9160877}"/>
              </a:ext>
            </a:extLst>
          </p:cNvPr>
          <p:cNvSpPr/>
          <p:nvPr/>
        </p:nvSpPr>
        <p:spPr>
          <a:xfrm>
            <a:off x="10685163" y="1302906"/>
            <a:ext cx="857250" cy="8572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1" name="Соединитель: изогнутый 40">
            <a:extLst>
              <a:ext uri="{FF2B5EF4-FFF2-40B4-BE49-F238E27FC236}">
                <a16:creationId xmlns:a16="http://schemas.microsoft.com/office/drawing/2014/main" id="{E7B850BA-F29C-3F7E-D4CC-2B4118E45311}"/>
              </a:ext>
            </a:extLst>
          </p:cNvPr>
          <p:cNvCxnSpPr>
            <a:cxnSpLocks/>
            <a:stCxn id="7" idx="0"/>
            <a:endCxn id="28" idx="6"/>
          </p:cNvCxnSpPr>
          <p:nvPr/>
        </p:nvCxnSpPr>
        <p:spPr>
          <a:xfrm rot="16200000" flipV="1">
            <a:off x="3303577" y="796858"/>
            <a:ext cx="924599" cy="1936696"/>
          </a:xfrm>
          <a:prstGeom prst="curvedConnector2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: изогнутый 43">
            <a:extLst>
              <a:ext uri="{FF2B5EF4-FFF2-40B4-BE49-F238E27FC236}">
                <a16:creationId xmlns:a16="http://schemas.microsoft.com/office/drawing/2014/main" id="{476A4C00-2A65-C48B-BE6D-75871B272D97}"/>
              </a:ext>
            </a:extLst>
          </p:cNvPr>
          <p:cNvCxnSpPr>
            <a:cxnSpLocks/>
            <a:stCxn id="7" idx="0"/>
            <a:endCxn id="29" idx="6"/>
          </p:cNvCxnSpPr>
          <p:nvPr/>
        </p:nvCxnSpPr>
        <p:spPr>
          <a:xfrm rot="5400000" flipH="1" flipV="1">
            <a:off x="4181540" y="1246197"/>
            <a:ext cx="1533992" cy="428625"/>
          </a:xfrm>
          <a:prstGeom prst="curvedConnector4">
            <a:avLst>
              <a:gd name="adj1" fmla="val 46792"/>
              <a:gd name="adj2" fmla="val 385926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: изогнутый 46">
            <a:extLst>
              <a:ext uri="{FF2B5EF4-FFF2-40B4-BE49-F238E27FC236}">
                <a16:creationId xmlns:a16="http://schemas.microsoft.com/office/drawing/2014/main" id="{BA3365D2-8ABB-BB2B-35B8-4A2C4D486C2A}"/>
              </a:ext>
            </a:extLst>
          </p:cNvPr>
          <p:cNvCxnSpPr>
            <a:cxnSpLocks/>
            <a:stCxn id="7" idx="0"/>
            <a:endCxn id="30" idx="6"/>
          </p:cNvCxnSpPr>
          <p:nvPr/>
        </p:nvCxnSpPr>
        <p:spPr>
          <a:xfrm rot="16200000" flipH="1" flipV="1">
            <a:off x="3203996" y="1260596"/>
            <a:ext cx="563320" cy="2497137"/>
          </a:xfrm>
          <a:prstGeom prst="curvedConnector4">
            <a:avLst>
              <a:gd name="adj1" fmla="val -40581"/>
              <a:gd name="adj2" fmla="val 166025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Соединитель: изогнутый 55">
            <a:extLst>
              <a:ext uri="{FF2B5EF4-FFF2-40B4-BE49-F238E27FC236}">
                <a16:creationId xmlns:a16="http://schemas.microsoft.com/office/drawing/2014/main" id="{646A47A6-4D18-1A86-BC44-0FC21D17E374}"/>
              </a:ext>
            </a:extLst>
          </p:cNvPr>
          <p:cNvCxnSpPr>
            <a:cxnSpLocks/>
            <a:stCxn id="9" idx="0"/>
            <a:endCxn id="31" idx="2"/>
          </p:cNvCxnSpPr>
          <p:nvPr/>
        </p:nvCxnSpPr>
        <p:spPr>
          <a:xfrm rot="16200000" flipV="1">
            <a:off x="6342293" y="1222112"/>
            <a:ext cx="1533991" cy="476793"/>
          </a:xfrm>
          <a:prstGeom prst="curvedConnector4">
            <a:avLst>
              <a:gd name="adj1" fmla="val 36029"/>
              <a:gd name="adj2" fmla="val 341588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изогнутый 59">
            <a:extLst>
              <a:ext uri="{FF2B5EF4-FFF2-40B4-BE49-F238E27FC236}">
                <a16:creationId xmlns:a16="http://schemas.microsoft.com/office/drawing/2014/main" id="{63B89E1D-4465-9557-B9C1-CF0096E37735}"/>
              </a:ext>
            </a:extLst>
          </p:cNvPr>
          <p:cNvCxnSpPr>
            <a:cxnSpLocks/>
            <a:stCxn id="9" idx="0"/>
            <a:endCxn id="32" idx="2"/>
          </p:cNvCxnSpPr>
          <p:nvPr/>
        </p:nvCxnSpPr>
        <p:spPr>
          <a:xfrm rot="5400000" flipH="1" flipV="1">
            <a:off x="7597242" y="758288"/>
            <a:ext cx="1219658" cy="1718774"/>
          </a:xfrm>
          <a:prstGeom prst="curvedConnector2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Соединитель: изогнутый 60">
            <a:extLst>
              <a:ext uri="{FF2B5EF4-FFF2-40B4-BE49-F238E27FC236}">
                <a16:creationId xmlns:a16="http://schemas.microsoft.com/office/drawing/2014/main" id="{B4C3E720-920F-5A1E-5DB5-26A4B3681801}"/>
              </a:ext>
            </a:extLst>
          </p:cNvPr>
          <p:cNvCxnSpPr>
            <a:cxnSpLocks/>
            <a:stCxn id="9" idx="0"/>
            <a:endCxn id="33" idx="2"/>
          </p:cNvCxnSpPr>
          <p:nvPr/>
        </p:nvCxnSpPr>
        <p:spPr>
          <a:xfrm rot="5400000" flipH="1" flipV="1">
            <a:off x="8768437" y="310779"/>
            <a:ext cx="495973" cy="3337479"/>
          </a:xfrm>
          <a:prstGeom prst="curvedConnector2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Овал 96">
            <a:extLst>
              <a:ext uri="{FF2B5EF4-FFF2-40B4-BE49-F238E27FC236}">
                <a16:creationId xmlns:a16="http://schemas.microsoft.com/office/drawing/2014/main" id="{1C145E9F-2413-60A3-97E8-3E09806D56BA}"/>
              </a:ext>
            </a:extLst>
          </p:cNvPr>
          <p:cNvSpPr/>
          <p:nvPr/>
        </p:nvSpPr>
        <p:spPr>
          <a:xfrm>
            <a:off x="10145413" y="2790825"/>
            <a:ext cx="857250" cy="8572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8" name="Соединитель: изогнутый 97">
            <a:extLst>
              <a:ext uri="{FF2B5EF4-FFF2-40B4-BE49-F238E27FC236}">
                <a16:creationId xmlns:a16="http://schemas.microsoft.com/office/drawing/2014/main" id="{DB5EA4E8-B558-AB2A-4FAE-7FEF898AB4CF}"/>
              </a:ext>
            </a:extLst>
          </p:cNvPr>
          <p:cNvCxnSpPr>
            <a:cxnSpLocks/>
            <a:stCxn id="9" idx="0"/>
            <a:endCxn id="97" idx="0"/>
          </p:cNvCxnSpPr>
          <p:nvPr/>
        </p:nvCxnSpPr>
        <p:spPr>
          <a:xfrm rot="16200000" flipH="1">
            <a:off x="8679200" y="895987"/>
            <a:ext cx="563321" cy="3226354"/>
          </a:xfrm>
          <a:prstGeom prst="curvedConnector3">
            <a:avLst>
              <a:gd name="adj1" fmla="val -40581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D84E348-42B0-C0CD-F86A-2DB1BC8FF27A}"/>
              </a:ext>
            </a:extLst>
          </p:cNvPr>
          <p:cNvSpPr txBox="1"/>
          <p:nvPr/>
        </p:nvSpPr>
        <p:spPr>
          <a:xfrm>
            <a:off x="8850558" y="6030717"/>
            <a:ext cx="32263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46788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OSA - </a:t>
            </a:r>
            <a:r>
              <a:rPr lang="ru-RU" i="1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Онтологическая платформа</a:t>
            </a:r>
            <a:endParaRPr lang="ru-RU" i="1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99463B-361B-E536-31E9-A2DDC725E3D5}"/>
              </a:ext>
            </a:extLst>
          </p:cNvPr>
          <p:cNvSpPr txBox="1"/>
          <p:nvPr/>
        </p:nvSpPr>
        <p:spPr>
          <a:xfrm>
            <a:off x="8942294" y="5741894"/>
            <a:ext cx="2600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Переход по ссылке:</a:t>
            </a:r>
          </a:p>
        </p:txBody>
      </p:sp>
    </p:spTree>
    <p:extLst>
      <p:ext uri="{BB962C8B-B14F-4D97-AF65-F5344CB8AC3E}">
        <p14:creationId xmlns:p14="http://schemas.microsoft.com/office/powerpoint/2010/main" val="948121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01261" y="590062"/>
            <a:ext cx="5409655" cy="28389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Разность представлений-ограничений.</a:t>
            </a:r>
            <a:br>
              <a:rPr lang="en-US" sz="1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У прохожих на виду висело яблоко в саду. </a:t>
            </a:r>
            <a:b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Ну кому какое дело? Просто Яблоко висело. </a:t>
            </a:r>
            <a:b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Только Конь сказал, что низко. </a:t>
            </a:r>
            <a:b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А Мышонок – высоко. Воробей сказал, что близко, </a:t>
            </a:r>
            <a:b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А Улитка – далеко. </a:t>
            </a:r>
            <a:b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А Телёнок – озабочен тем, что яблоко мало. </a:t>
            </a:r>
            <a:b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А Цыплёнок – тем, что очень велико и тяжело. </a:t>
            </a:r>
            <a:b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А Котёнку всё равно: - кислое – зачем оно? - Что вы! – шепчет Червячок, - Сладкий у него бочок.</a:t>
            </a:r>
            <a:br>
              <a:rPr lang="en-US" sz="1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4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Генрих Сапгир(1928-1999)</a:t>
            </a:r>
          </a:p>
        </p:txBody>
      </p:sp>
      <p:sp>
        <p:nvSpPr>
          <p:cNvPr id="3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2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3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2432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590</Words>
  <Application>Microsoft Office PowerPoint</Application>
  <PresentationFormat>Широкоэкранный</PresentationFormat>
  <Paragraphs>62</Paragraphs>
  <Slides>9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Helvetica Neue Light</vt:lpstr>
      <vt:lpstr>Source Sans Pro</vt:lpstr>
      <vt:lpstr>Тема Office</vt:lpstr>
      <vt:lpstr>Формальные онтологии. Методы и инструменты их практического применения</vt:lpstr>
      <vt:lpstr>6 ЭЛЕМЕНТОВ ТРАНСФОРМАЦИИ – КОМПЛЕКСНОСТЬ</vt:lpstr>
      <vt:lpstr>ТРАНСФОРМАЦИЯ ПО 6 МОДЕЛЯМ – ЭФФЕКТЫ ПО 6-ТИ ПОКАЗАТЕЛЯМ</vt:lpstr>
      <vt:lpstr>ОНТОЛОГИЯ</vt:lpstr>
      <vt:lpstr>ОНТОЛОГИЯ. БАЗОВЫЕ ПОНЯТИЯ.</vt:lpstr>
      <vt:lpstr>ОНТОЛОГИЯ. БАЗОВЫЕ ПОНЯТИЯ.</vt:lpstr>
      <vt:lpstr>Презентация PowerPoint</vt:lpstr>
      <vt:lpstr>Презентация PowerPoint</vt:lpstr>
      <vt:lpstr>Разность представлений-ограничений.  У прохожих на виду висело яблоко в саду.  Ну кому какое дело? Просто Яблоко висело.  Только Конь сказал, что низко.  А Мышонок – высоко. Воробей сказал, что близко,  А Улитка – далеко.  А Телёнок – озабочен тем, что яблоко мало.  А Цыплёнок – тем, что очень велико и тяжело.  А Котёнку всё равно: - кислое – зачем оно? - Что вы! – шепчет Червячок, - Сладкий у него бочок.  Генрих Сапгир(1928-1999)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Формальные онтологии. Методы и инструменты их практического применения</dc:title>
  <dc:creator>Олег Гринько</dc:creator>
  <cp:lastModifiedBy>Кварталова Ксения</cp:lastModifiedBy>
  <cp:revision>5</cp:revision>
  <dcterms:created xsi:type="dcterms:W3CDTF">2026-04-05T13:18:37Z</dcterms:created>
  <dcterms:modified xsi:type="dcterms:W3CDTF">2026-04-07T13:35:44Z</dcterms:modified>
</cp:coreProperties>
</file>